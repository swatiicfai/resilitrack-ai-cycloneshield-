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94960" y="9144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</a:rPr>
              <a:t>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ResiliTrack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38BDF8"/>
                </a:solidFill>
              </a:rPr>
              <a:t>Anticipatory Disaster Intelligence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BEC5"/>
                </a:solidFill>
              </a:rPr>
              <a:t>Track 5: Cyclone Impact &amp; Infrastructure Vulnerability Forecaster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4389120"/>
            <a:ext cx="5788152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B0BEC5"/>
                </a:solidFill>
              </a:rPr>
              <a:t>Powered by Google Earth Engine  •  Gemini 1.5 Flash  •  OpenStreetMap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9E0B"/>
                </a:solidFill>
              </a:rPr>
              <a:t>Build with AI: Code for Communities — 2nd Edition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54864" cy="59436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F4444"/>
                </a:solidFill>
              </a:rPr>
              <a:t>⚠ 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0BEC5"/>
                </a:solidFill>
              </a:rPr>
              <a:t>Why generic cyclone warnings fail coastal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11430000" cy="1417320"/>
          </a:xfrm>
          <a:prstGeom prst="rect">
            <a:avLst/>
          </a:prstGeom>
          <a:solidFill>
            <a:srgbClr val="1E293B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</a:rPr>
              <a:t>🎯 Blind Spot in Last-Mile Intelligence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Weather cones cover hundreds of km² but can't tell if a specific hospital feeder road or power sub-station will be under 1.5m of water at 3 AM.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926080"/>
            <a:ext cx="11430000" cy="1417320"/>
          </a:xfrm>
          <a:prstGeom prst="rect">
            <a:avLst/>
          </a:prstGeom>
          <a:solidFill>
            <a:srgbClr val="1E293B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035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</a:rPr>
              <a:t>🔁 Cascading Infrastructure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Disaster commanders struggle to identify which emergency shelters will be cut off before flooding occurs — making pre-positioned resources impossible.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572000"/>
            <a:ext cx="11430000" cy="1417320"/>
          </a:xfrm>
          <a:prstGeom prst="rect">
            <a:avLst/>
          </a:prstGeom>
          <a:solidFill>
            <a:srgbClr val="1E293B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6817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</a:rPr>
              <a:t>📡 Communication Bottleneck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749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Emergency officers receive raw satellite imagery without AI synthesis into immediate, localized, multi-lingual tactical actions.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54864" cy="59436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88E5"/>
                </a:solidFill>
              </a:rPr>
              <a:t>💡 The Solution — ResiliTrack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0BEC5"/>
                </a:solidFill>
              </a:rPr>
              <a:t>Shifting disaster response from reactive recovery to anticipatory pre-landfall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2743200" cy="5303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2743200" cy="54864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E88E5"/>
                </a:solidFill>
              </a:rPr>
              <a:t>SIMULATE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468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Hydro-Elevation Mapping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7180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GEE NASADEM/SRTM elevation matrices combined
with wind speed &amp; 24h rainfall accumulation.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1280160"/>
            <a:ext cx="2743200" cy="5303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18688" y="1280160"/>
            <a:ext cx="27432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4173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8BDF8"/>
                </a:solidFill>
              </a:rPr>
              <a:t>ANALYZE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2468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Infrastructure Exposure Graph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297180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Extracts hospitals, power grids, bridges from
OpenStreetMap — calculates accessibility decay.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3056" y="1280160"/>
            <a:ext cx="2743200" cy="5303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3056" y="1280160"/>
            <a:ext cx="27432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14173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6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</a:rPr>
              <a:t>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63056" y="2468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Gemini AI Operations Intel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4496" y="297180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Synthesizes satellite maps + telemetry into
executive reports &amp; multi-lingual alerts.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07424" y="1280160"/>
            <a:ext cx="2743200" cy="5303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07424" y="1280160"/>
            <a:ext cx="27432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7424" y="14173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</a:rPr>
              <a:t>FUND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2468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Parametric Insurance 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97180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Pre-landfall severity index triggers instant
liquidity payouts before the storm hits.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54864" cy="5943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0B981"/>
                </a:solidFill>
              </a:rPr>
              <a:t>🧠 The Gemini AI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0BEC5"/>
                </a:solidFill>
              </a:rPr>
              <a:t>Gemini 1.5 Flash acts as a Virtual Disaster Commander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486400" cy="5394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</a:rPr>
              <a:t>What Gemini Produces: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🎯  Structured executive risk 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🚨  Priority evacuation zone commands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⚡  Infrastructure isolation assessments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519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📱  Multi-lingual citizen SMS dispatches
      (Bengali · Odia · Hindi · English)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749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💳  Parametric insurance severity index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188720"/>
            <a:ext cx="5852160" cy="5394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2801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</a:rPr>
              <a:t>Edge-Case Handling (Refined Prompts):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828800"/>
            <a:ext cx="5394960" cy="914400"/>
          </a:xfrm>
          <a:prstGeom prst="rect">
            <a:avLst/>
          </a:prstGeom>
          <a:solidFill>
            <a:srgbClr val="0F2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87451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⚡ Minor Storm (&lt;119 km/h)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94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Downgrades to MODERATE/LOW threat. Focuses on preparedness, not panic.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926080"/>
            <a:ext cx="5394960" cy="914400"/>
          </a:xfrm>
          <a:prstGeom prst="rect">
            <a:avLst/>
          </a:prstGeom>
          <a:solidFill>
            <a:srgbClr val="0F2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971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⚡ Zero Infrastructure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291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Explicitly confirms critical infrastructure is secure and operational.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023360"/>
            <a:ext cx="5394960" cy="914400"/>
          </a:xfrm>
          <a:prstGeom prst="rect">
            <a:avLst/>
          </a:prstGeom>
          <a:solidFill>
            <a:srgbClr val="0F2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069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⚡ Below Catastrophe Threshold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Sets parametric payout to NOT MET with $0, no false triggers.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5120640"/>
            <a:ext cx="5394960" cy="914400"/>
          </a:xfrm>
          <a:prstGeom prst="rect">
            <a:avLst/>
          </a:prstGeom>
          <a:solidFill>
            <a:srgbClr val="0F2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16635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⚡ API Key Absent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486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Gracefully falls back to a pre-built realistic simulation engine.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54864" cy="5943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59E0B"/>
                </a:solidFill>
              </a:rPr>
              <a:t>🌍 Community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0BEC5"/>
                </a:solidFill>
              </a:rPr>
              <a:t>Real-world value for millions of vulnerable coastal residents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5669280" cy="2377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56692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38988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</a:rPr>
              <a:t>🏃 Saves Lives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828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Hyper-localized evacuation orders — not generic warnings. Residents in low-lying fishing hamlets and riverine delta islands get specific, actionable guidance.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669280" cy="2377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5669280" cy="54864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38988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88E5"/>
                </a:solidFill>
              </a:rPr>
              <a:t>🏥 Protects Critical 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828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Hospitals are never caught off-guard. Pre-landfall alerts ensure backup generators are deployed and amphibious transport is pre-positioned for isolated trauma centers.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931920"/>
            <a:ext cx="5669280" cy="2377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566928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404164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8BDF8"/>
                </a:solidFill>
              </a:rPr>
              <a:t>🗣️ Inclusive Communication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" y="4480559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Overcomes the language barrier by auto-generating native-language alerts in Bengali, Odia, Hindi, and English — reaching the most vulnerable who may not speak English.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5669280" cy="2377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931920"/>
            <a:ext cx="56692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04164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</a:rPr>
              <a:t>💰 Financial Resilience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480559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Parametric insurance scores trigger immediate liquidity payouts BEFORE the storm hits — allowing communities to buy supplies and fuel relief operations instead of waiting for post-disaster aid.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54864" cy="5943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</a:rPr>
              <a:t>⚙️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2011680" cy="1645920"/>
          </a:xfrm>
          <a:prstGeom prst="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515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8BDF8"/>
                </a:solidFill>
              </a:rPr>
              <a:t>☁️ GEE Feeds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EC5"/>
                </a:solidFill>
              </a:rPr>
              <a:t>Sentinel-1 SAR
Sentinel-2
NASADEM DEM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1005840"/>
            <a:ext cx="2011680" cy="1645920"/>
          </a:xfrm>
          <a:prstGeom prst="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10515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8BDF8"/>
                </a:solidFill>
              </a:rPr>
              <a:t>🌦️ Meteorological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4630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EC5"/>
                </a:solidFill>
              </a:rPr>
              <a:t>NOAA / IMD
Open-Meteo
Cyclone Tracks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46320" y="1005840"/>
            <a:ext cx="2011680" cy="1645920"/>
          </a:xfrm>
          <a:prstGeom prst="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0515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8BDF8"/>
                </a:solidFill>
              </a:rPr>
              <a:t>🗺️ OpenStreetMap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4630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EC5"/>
                </a:solidFill>
              </a:rPr>
              <a:t>Hospitals
Roads &amp; Bridges
Power Sub-stations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743200"/>
            <a:ext cx="1188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▼ feeds into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3200400"/>
            <a:ext cx="5760720" cy="1188720"/>
          </a:xfrm>
          <a:prstGeom prst="rect">
            <a:avLst/>
          </a:prstGeom>
          <a:solidFill>
            <a:srgbClr val="1E293B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324612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E88E5"/>
                </a:solidFill>
              </a:rPr>
              <a:t>🧠 Gemini 1.5 Flash — Multimodal Decision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0332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Synthesizes elevation + telemetry + infrastructure graphs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434840"/>
            <a:ext cx="1188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▼ outputs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4846320"/>
            <a:ext cx="3017520" cy="822960"/>
          </a:xfrm>
          <a:prstGeom prst="rect">
            <a:avLst/>
          </a:prstGeom>
          <a:solidFill>
            <a:srgbClr val="1E293B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4919472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88E5"/>
                </a:solidFill>
              </a:rPr>
              <a:t>🗺️ Inundation Map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4846320"/>
            <a:ext cx="3017520" cy="822960"/>
          </a:xfrm>
          <a:prstGeom prst="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919472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B981"/>
                </a:solidFill>
              </a:rPr>
              <a:t>📱 Multi-Lingual Alerts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4846320"/>
            <a:ext cx="3017520" cy="822960"/>
          </a:xfrm>
          <a:prstGeom prst="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4919472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</a:rPr>
              <a:t>💳 Insurance 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594360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BEC5"/>
                </a:solidFill>
              </a:rPr>
              <a:t>Deployed on Streamlit Cloud  •  Containerized via Docker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54864" cy="5943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0B981"/>
                </a:solidFill>
              </a:rPr>
              <a:t>🚀 Live Demo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8BDF8"/>
                </a:solidFill>
              </a:rPr>
              <a:t>Prototype: https://efomw9k5jde5gwkxe3ybuj.streamlit.app/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1005840" cy="109728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55448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1280160"/>
            <a:ext cx="1051560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132588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Select a target coastal sector (e.g., Bay of Bengal — Odisha / West Bengal)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73736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Use the sidebar dropdown to choose the region and observe the GIS map center change in real-time.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606039"/>
            <a:ext cx="1005840" cy="109728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880359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17320" y="2606039"/>
            <a:ext cx="1051560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2651759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Adjust cyclone severity parameters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63239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Move the sliders: Max Wind Speed, Storm Surge Height, 24h Rainfall. Watch the inundation zone polygon intensity and infrastructure markers update.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1005840" cy="109728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20624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3931920"/>
            <a:ext cx="1051560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3977639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Run Gemini Multimodal Risk Synthesis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38912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Click the '🚀 Run Gemini Multimodal Risk Synthesis' button. Gemini generates a full executive report, evacuation zones, tactical commands, and 4 language dispatches.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257800"/>
            <a:ext cx="1005840" cy="109728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55321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17320" y="5257800"/>
            <a:ext cx="1051560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54480" y="530352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Explore the analytics &amp; submission tab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71500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Review Asset Inundation Depth charts, the Detailed Infrastructure Exposure Table, and the built-in submission description template.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</a:rPr>
              <a:t>🔭 Roadmap &amp; Closing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3749039" cy="3200400"/>
          </a:xfrm>
          <a:prstGeom prst="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515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8BDF8"/>
                </a:solidFill>
              </a:rPr>
              <a:t>Near-Term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5544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Integrate live IoT river gauge sensors for real-time ground truth validation of flood depth predictions.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005840"/>
            <a:ext cx="3749039" cy="3200400"/>
          </a:xfrm>
          <a:prstGeom prst="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10515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8BDF8"/>
                </a:solidFill>
              </a:rPr>
              <a:t>Mid-Term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5544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Build automated WhatsApp/Telegram bot for direct citizen dispatch, integrating with national alert systems.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749039" cy="3200400"/>
          </a:xfrm>
          <a:prstGeom prst="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0515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8BDF8"/>
                </a:solidFill>
              </a:rPr>
              <a:t>Long-Term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544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Expand coverage to full APAC coastline: Philippines, Vietnam, Bangladesh, Myanmar.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480560"/>
            <a:ext cx="11640312" cy="1645920"/>
          </a:xfrm>
          <a:prstGeom prst="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5720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1">
                <a:solidFill>
                  <a:srgbClr val="F59E0B"/>
                </a:solidFill>
              </a:rPr>
              <a:t>"With ResiliTrack AI, we aren't just weathering the storm — we are outsmarting it."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GitHub: github.com/swatiicfai/ResiliTrack-AI-CycloneShield-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6492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8BDF8"/>
                </a:solidFill>
              </a:rPr>
              <a:t>Live App: efomw9k5jde5gwkxe3ybuj.streamlit.app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